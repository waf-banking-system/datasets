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8" r:id="rId10"/>
    <p:sldId id="269" r:id="rId11"/>
    <p:sldId id="271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82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ACTION-EHR Research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Patient-centric blockchain-based EHR management</a:t>
            </a:r>
          </a:p>
          <a:p>
            <a:r>
              <a:t>Source: JMIR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Insecure medical data sharing</a:t>
            </a:r>
          </a:p>
          <a:p>
            <a:r>
              <a:rPr dirty="0"/>
              <a:t>- Limited patient control</a:t>
            </a:r>
          </a:p>
          <a:p>
            <a:r>
              <a:rPr dirty="0"/>
              <a:t>- Poor auditability</a:t>
            </a:r>
          </a:p>
          <a:p>
            <a:r>
              <a:rPr dirty="0"/>
              <a:t>- Compliance challenges (HIPAA/GDPR)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Blockchain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Private / Permissioned Blockchain</a:t>
            </a:r>
          </a:p>
          <a:p>
            <a:r>
              <a:rPr dirty="0"/>
              <a:t>- Hyperledger Fabric</a:t>
            </a:r>
          </a:p>
          <a:p>
            <a:r>
              <a:rPr dirty="0"/>
              <a:t>- Trusted healthcare participants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On-chain vs Off-chain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On-chain:</a:t>
            </a:r>
          </a:p>
          <a:p>
            <a:r>
              <a:rPr sz="2800" dirty="0"/>
              <a:t>- Consent logs</a:t>
            </a:r>
          </a:p>
          <a:p>
            <a:r>
              <a:rPr sz="2800" dirty="0"/>
              <a:t>- Access logs</a:t>
            </a:r>
          </a:p>
          <a:p>
            <a:r>
              <a:rPr sz="2800" dirty="0"/>
              <a:t>- Data hashes</a:t>
            </a:r>
          </a:p>
          <a:p>
            <a:endParaRPr sz="2800" dirty="0"/>
          </a:p>
          <a:p>
            <a:r>
              <a:rPr sz="2800" dirty="0"/>
              <a:t>Off-chain:</a:t>
            </a:r>
          </a:p>
          <a:p>
            <a:r>
              <a:rPr sz="2800" dirty="0"/>
              <a:t>- Medical records</a:t>
            </a:r>
          </a:p>
          <a:p>
            <a:r>
              <a:rPr sz="2800" dirty="0"/>
              <a:t>- Lab results</a:t>
            </a:r>
          </a:p>
          <a:p>
            <a:r>
              <a:rPr sz="2800" dirty="0"/>
              <a:t>- Imaging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Data integrity &amp; trust</a:t>
            </a:r>
          </a:p>
          <a:p>
            <a:r>
              <a:rPr dirty="0"/>
              <a:t>- Full audit trail</a:t>
            </a:r>
          </a:p>
          <a:p>
            <a:r>
              <a:rPr dirty="0"/>
              <a:t>- Patient-controlled access</a:t>
            </a:r>
          </a:p>
          <a:p>
            <a:r>
              <a:rPr dirty="0"/>
              <a:t>- Regulatory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&amp;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Scalability</a:t>
            </a:r>
          </a:p>
          <a:p>
            <a:r>
              <a:rPr dirty="0"/>
              <a:t>- Operational cost</a:t>
            </a:r>
          </a:p>
          <a:p>
            <a:r>
              <a:rPr dirty="0"/>
              <a:t>- Integration complexity</a:t>
            </a:r>
          </a:p>
          <a:p>
            <a:r>
              <a:rPr dirty="0"/>
              <a:t>- Right to erasure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Healthcare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Patient consent management</a:t>
            </a:r>
          </a:p>
          <a:p>
            <a:r>
              <a:rPr dirty="0"/>
              <a:t>- Secure data sharing</a:t>
            </a:r>
          </a:p>
          <a:p>
            <a:r>
              <a:rPr dirty="0"/>
              <a:t>- Medical audit trails</a:t>
            </a:r>
          </a:p>
          <a:p>
            <a:r>
              <a:rPr dirty="0"/>
              <a:t>- AI data usage tracking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Blockchain vs Traditional Architecture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9802"/>
              </p:ext>
            </p:extLst>
          </p:nvPr>
        </p:nvGraphicFramePr>
        <p:xfrm>
          <a:off x="457200" y="1849582"/>
          <a:ext cx="8229600" cy="3664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r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Blockchain-Based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27">
                <a:tc>
                  <a:txBody>
                    <a:bodyPr/>
                    <a:lstStyle/>
                    <a:p>
                      <a:r>
                        <a:t>Data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Centralized authority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Patient-centric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Auditability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Immutable audit trail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Data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Editable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Tamper-evident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Trust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Single trusted 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Distributed trust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Hard to 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Built-in traceability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936" y="274638"/>
            <a:ext cx="8229600" cy="1143000"/>
          </a:xfrm>
        </p:spPr>
        <p:txBody>
          <a:bodyPr>
            <a:normAutofit/>
          </a:bodyPr>
          <a:lstStyle/>
          <a:p>
            <a:r>
              <a:rPr sz="3600" dirty="0"/>
              <a:t>Performance, Cost, and Scalability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- Performance depends on the number of validating participants in the permissioned blockchain.</a:t>
            </a:r>
          </a:p>
          <a:p>
            <a:r>
              <a:rPr sz="2000" dirty="0"/>
              <a:t>- More nodes increase trust but add transaction latency.</a:t>
            </a:r>
          </a:p>
          <a:p>
            <a:endParaRPr sz="2000" dirty="0"/>
          </a:p>
          <a:p>
            <a:r>
              <a:rPr sz="2000" dirty="0"/>
              <a:t>- Cost increases as data volume grows due to storage and operational overhead.</a:t>
            </a:r>
          </a:p>
          <a:p>
            <a:r>
              <a:rPr sz="2000" dirty="0"/>
              <a:t>- Storing large medical data on-chain is expensive and inefficient.</a:t>
            </a:r>
          </a:p>
          <a:p>
            <a:endParaRPr sz="2000" dirty="0"/>
          </a:p>
          <a:p>
            <a:r>
              <a:rPr sz="2000" dirty="0"/>
              <a:t>- Scalability is achieved using a hybrid model:</a:t>
            </a:r>
          </a:p>
          <a:p>
            <a:r>
              <a:rPr sz="2000" dirty="0"/>
              <a:t>  • Blockchain for logs, consent, and hashes</a:t>
            </a:r>
          </a:p>
          <a:p>
            <a:r>
              <a:rPr sz="2000" dirty="0"/>
              <a:t>  • Off-chain storage for large medical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dirty="0"/>
              <a:t>Recommended Blockchain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- Hyperledger Fabric:</a:t>
            </a:r>
          </a:p>
          <a:p>
            <a:r>
              <a:rPr sz="2000" dirty="0"/>
              <a:t>  • Best for permissioned healthcare networks</a:t>
            </a:r>
          </a:p>
          <a:p>
            <a:r>
              <a:rPr sz="2000" dirty="0"/>
              <a:t>  • Strong access control and modular design</a:t>
            </a:r>
          </a:p>
          <a:p>
            <a:endParaRPr sz="2000" dirty="0"/>
          </a:p>
          <a:p>
            <a:r>
              <a:rPr sz="2000" dirty="0"/>
              <a:t>- Corda:</a:t>
            </a:r>
          </a:p>
          <a:p>
            <a:r>
              <a:rPr sz="2000" dirty="0"/>
              <a:t>  • Optimized for point-to-point data sharing</a:t>
            </a:r>
          </a:p>
          <a:p>
            <a:r>
              <a:rPr sz="2000" dirty="0"/>
              <a:t>  • High privacy between specific parties</a:t>
            </a:r>
          </a:p>
          <a:p>
            <a:endParaRPr sz="2000" dirty="0"/>
          </a:p>
          <a:p>
            <a:r>
              <a:rPr sz="2000" dirty="0"/>
              <a:t>- Quorum:</a:t>
            </a:r>
          </a:p>
          <a:p>
            <a:r>
              <a:rPr sz="2000" dirty="0"/>
              <a:t>  • Suitable for complex smart contracts</a:t>
            </a:r>
          </a:p>
          <a:p>
            <a:r>
              <a:rPr sz="2000" dirty="0"/>
              <a:t>  • Enterprise-grade Ethereum-based blockchain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Right to Be Forgotten (GDPR Compliance)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Blockchain data is immutable and cannot be deleted.</a:t>
            </a:r>
          </a:p>
          <a:p>
            <a:r>
              <a:rPr sz="2400" dirty="0"/>
              <a:t>- To comply with GDPR:</a:t>
            </a:r>
          </a:p>
          <a:p>
            <a:endParaRPr sz="2400" dirty="0"/>
          </a:p>
          <a:p>
            <a:r>
              <a:rPr sz="2400" dirty="0"/>
              <a:t>Actual medical data is deleted from off-chain storage.</a:t>
            </a:r>
          </a:p>
          <a:p>
            <a:r>
              <a:rPr sz="2400" dirty="0"/>
              <a:t>Encryption keys are destroyed or revoked.</a:t>
            </a:r>
          </a:p>
          <a:p>
            <a:endParaRPr sz="2400" dirty="0"/>
          </a:p>
          <a:p>
            <a:r>
              <a:rPr sz="2400" dirty="0"/>
              <a:t>Remaining blockchain records become unreadable references,</a:t>
            </a:r>
          </a:p>
          <a:p>
            <a:r>
              <a:rPr sz="2400" dirty="0"/>
              <a:t>  preserving auditability without exposing personal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blockchain for:</a:t>
            </a:r>
          </a:p>
          <a:p>
            <a:r>
              <a:rPr dirty="0"/>
              <a:t>Consent &amp; audit</a:t>
            </a:r>
          </a:p>
          <a:p>
            <a:r>
              <a:rPr dirty="0"/>
              <a:t>Avoid blockchain for:</a:t>
            </a:r>
          </a:p>
          <a:p>
            <a:r>
              <a:rPr dirty="0"/>
              <a:t>Large medical file storage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373</Words>
  <Application>Microsoft Office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ACTION-EHR Research Overview</vt:lpstr>
      <vt:lpstr>Problem Statement</vt:lpstr>
      <vt:lpstr>Blockchain Model</vt:lpstr>
      <vt:lpstr>On-chain vs Off-chain Storage</vt:lpstr>
      <vt:lpstr>System Benefits</vt:lpstr>
      <vt:lpstr>Limitations &amp; Risks</vt:lpstr>
      <vt:lpstr>Healthcare Use Cases</vt:lpstr>
      <vt:lpstr>Blockchain vs Traditional Architecture</vt:lpstr>
      <vt:lpstr>Performance, Cost, and Scalability Analysis</vt:lpstr>
      <vt:lpstr>Recommended Blockchain Platforms</vt:lpstr>
      <vt:lpstr>Right to Be Forgotten (GDPR Compliance)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CM</dc:creator>
  <cp:keywords/>
  <dc:description>generated using python-pptx</dc:description>
  <cp:lastModifiedBy>ايمن محمد بيومي عبدالكريم العزب</cp:lastModifiedBy>
  <cp:revision>2</cp:revision>
  <dcterms:created xsi:type="dcterms:W3CDTF">2013-01-27T09:14:16Z</dcterms:created>
  <dcterms:modified xsi:type="dcterms:W3CDTF">2026-02-05T16:08:03Z</dcterms:modified>
  <cp:category/>
</cp:coreProperties>
</file>